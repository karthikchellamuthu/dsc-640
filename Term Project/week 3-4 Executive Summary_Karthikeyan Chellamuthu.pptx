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F3C0-A346-4274-A9F8-E3FECF4EC83B}" type="datetimeFigureOut">
              <a:rPr lang="en-IN" smtClean="0"/>
              <a:t>03-07-2022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415A-5BD9-4AD2-B730-6D23AAAA50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598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F3C0-A346-4274-A9F8-E3FECF4EC83B}" type="datetimeFigureOut">
              <a:rPr lang="en-IN" smtClean="0"/>
              <a:t>03-07-2022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415A-5BD9-4AD2-B730-6D23AAAA50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426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F3C0-A346-4274-A9F8-E3FECF4EC83B}" type="datetimeFigureOut">
              <a:rPr lang="en-IN" smtClean="0"/>
              <a:t>03-07-2022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415A-5BD9-4AD2-B730-6D23AAAA50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429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F3C0-A346-4274-A9F8-E3FECF4EC83B}" type="datetimeFigureOut">
              <a:rPr lang="en-IN" smtClean="0"/>
              <a:t>03-07-2022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415A-5BD9-4AD2-B730-6D23AAAA50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728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F3C0-A346-4274-A9F8-E3FECF4EC83B}" type="datetimeFigureOut">
              <a:rPr lang="en-IN" smtClean="0"/>
              <a:t>03-07-2022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415A-5BD9-4AD2-B730-6D23AAAA50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19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F3C0-A346-4274-A9F8-E3FECF4EC83B}" type="datetimeFigureOut">
              <a:rPr lang="en-IN" smtClean="0"/>
              <a:t>03-07-2022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415A-5BD9-4AD2-B730-6D23AAAA50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92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F3C0-A346-4274-A9F8-E3FECF4EC83B}" type="datetimeFigureOut">
              <a:rPr lang="en-IN" smtClean="0"/>
              <a:t>03-07-2022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415A-5BD9-4AD2-B730-6D23AAAA50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384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F3C0-A346-4274-A9F8-E3FECF4EC83B}" type="datetimeFigureOut">
              <a:rPr lang="en-IN" smtClean="0"/>
              <a:t>03-07-2022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415A-5BD9-4AD2-B730-6D23AAAA50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169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F3C0-A346-4274-A9F8-E3FECF4EC83B}" type="datetimeFigureOut">
              <a:rPr lang="en-IN" smtClean="0"/>
              <a:t>03-07-2022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415A-5BD9-4AD2-B730-6D23AAAA50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623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F3C0-A346-4274-A9F8-E3FECF4EC83B}" type="datetimeFigureOut">
              <a:rPr lang="en-IN" smtClean="0"/>
              <a:t>03-07-2022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415A-5BD9-4AD2-B730-6D23AAAA50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656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F3C0-A346-4274-A9F8-E3FECF4EC83B}" type="datetimeFigureOut">
              <a:rPr lang="en-IN" smtClean="0"/>
              <a:t>03-07-2022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415A-5BD9-4AD2-B730-6D23AAAA507D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21982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F3C0-A346-4274-A9F8-E3FECF4EC83B}" type="datetimeFigureOut">
              <a:rPr lang="en-IN" smtClean="0"/>
              <a:t>03-07-2022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415A-5BD9-4AD2-B730-6D23AAAA50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32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F3C0-A346-4274-A9F8-E3FECF4EC83B}" type="datetimeFigureOut">
              <a:rPr lang="en-IN" smtClean="0"/>
              <a:t>03-07-2022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415A-5BD9-4AD2-B730-6D23AAAA507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9983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F3C0-A346-4274-A9F8-E3FECF4EC83B}" type="datetimeFigureOut">
              <a:rPr lang="en-IN" smtClean="0"/>
              <a:t>03-07-2022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415A-5BD9-4AD2-B730-6D23AAAA50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612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F3C0-A346-4274-A9F8-E3FECF4EC83B}" type="datetimeFigureOut">
              <a:rPr lang="en-IN" smtClean="0"/>
              <a:t>03-07-2022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415A-5BD9-4AD2-B730-6D23AAAA50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9004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F3C0-A346-4274-A9F8-E3FECF4EC83B}" type="datetimeFigureOut">
              <a:rPr lang="en-IN" smtClean="0"/>
              <a:t>03-07-2022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415A-5BD9-4AD2-B730-6D23AAAA50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821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AF3C0-A346-4274-A9F8-E3FECF4EC83B}" type="datetimeFigureOut">
              <a:rPr lang="en-IN" smtClean="0"/>
              <a:t>03-07-2022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149415A-5BD9-4AD2-B730-6D23AAAA50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614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rlines.org/dataset/world-airlines-traffic-and-capacity-2/" TargetMode="External"/><Relationship Id="rId2" Type="http://schemas.openxmlformats.org/officeDocument/2006/relationships/hyperlink" Target="https://cdan.dot.gov/SASStoredProcess/guest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google.com/spreadsheets/d/1SDp7p1y6m7N5xD5_fpOkYOrJvd68V7iy6etXy2cetb8/edit" TargetMode="External"/><Relationship Id="rId4" Type="http://schemas.openxmlformats.org/officeDocument/2006/relationships/hyperlink" Target="https://www.statista.com/statistics/263443/worldwide-air-traffic-fataliti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1">
            <a:extLst>
              <a:ext uri="{FF2B5EF4-FFF2-40B4-BE49-F238E27FC236}">
                <a16:creationId xmlns:a16="http://schemas.microsoft.com/office/drawing/2014/main" id="{47271467-5FE9-4A91-A42F-F69CC74B85D8}"/>
              </a:ext>
            </a:extLst>
          </p:cNvPr>
          <p:cNvSpPr txBox="1">
            <a:spLocks/>
          </p:cNvSpPr>
          <p:nvPr/>
        </p:nvSpPr>
        <p:spPr>
          <a:xfrm>
            <a:off x="403572" y="5214545"/>
            <a:ext cx="9144000" cy="2732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 smtClean="0"/>
              <a:t>Assignment: Term Project 2.3 Executive Summary(Week 3&amp;4)</a:t>
            </a:r>
          </a:p>
          <a:p>
            <a:pPr algn="l"/>
            <a:r>
              <a:rPr lang="en-US" b="1" dirty="0" smtClean="0"/>
              <a:t>Author: </a:t>
            </a:r>
            <a:r>
              <a:rPr lang="en-US" b="1" dirty="0" err="1" smtClean="0"/>
              <a:t>Karthikeyan</a:t>
            </a:r>
            <a:r>
              <a:rPr lang="en-US" b="1" dirty="0" smtClean="0"/>
              <a:t> </a:t>
            </a:r>
            <a:r>
              <a:rPr lang="en-US" b="1" dirty="0" err="1" smtClean="0"/>
              <a:t>Chellamuthu</a:t>
            </a:r>
            <a:endParaRPr lang="en-US" b="1" dirty="0" smtClean="0"/>
          </a:p>
          <a:p>
            <a:pPr algn="l"/>
            <a:r>
              <a:rPr lang="en-US" dirty="0" smtClean="0"/>
              <a:t>Due Date: 07/02/2022</a:t>
            </a:r>
          </a:p>
          <a:p>
            <a:endParaRPr lang="en-US" dirty="0"/>
          </a:p>
        </p:txBody>
      </p:sp>
      <p:sp>
        <p:nvSpPr>
          <p:cNvPr id="5" name="slide1">
            <a:extLst>
              <a:ext uri="{FF2B5EF4-FFF2-40B4-BE49-F238E27FC236}">
                <a16:creationId xmlns:a16="http://schemas.microsoft.com/office/drawing/2014/main" id="{B3692112-14CE-4255-A866-E61F9A676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4268" y="640080"/>
            <a:ext cx="9390668" cy="3139440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>Data Presentation and Visualization </a:t>
            </a:r>
            <a:r>
              <a:rPr lang="en-US" sz="3200" b="1" dirty="0"/>
              <a:t/>
            </a:r>
            <a:br>
              <a:rPr lang="en-US" sz="3200" b="1" dirty="0"/>
            </a:br>
            <a:r>
              <a:rPr lang="en-US" sz="3200" b="1" dirty="0" smtClean="0"/>
              <a:t>W</a:t>
            </a:r>
            <a:r>
              <a:rPr sz="3200" b="1" dirty="0" smtClean="0"/>
              <a:t>eek</a:t>
            </a:r>
            <a:r>
              <a:rPr lang="en-US" sz="3200" b="1" dirty="0" smtClean="0"/>
              <a:t> </a:t>
            </a:r>
            <a:r>
              <a:rPr lang="en-US" sz="3200" b="1" dirty="0" smtClean="0"/>
              <a:t>3 </a:t>
            </a:r>
            <a:r>
              <a:rPr lang="en-US" sz="3200" b="1" dirty="0" smtClean="0"/>
              <a:t>&amp; </a:t>
            </a:r>
            <a:r>
              <a:rPr lang="en-US" sz="3200" b="1" dirty="0" smtClean="0"/>
              <a:t>4 </a:t>
            </a:r>
            <a:br>
              <a:rPr lang="en-US" sz="3200" b="1" dirty="0" smtClean="0"/>
            </a:br>
            <a:r>
              <a:rPr lang="en-US" sz="3200" b="1" dirty="0" smtClean="0"/>
              <a:t>2.3 Project Task</a:t>
            </a:r>
            <a:br>
              <a:rPr lang="en-US" sz="3200" b="1" dirty="0" smtClean="0"/>
            </a:br>
            <a:r>
              <a:rPr lang="en-US" sz="3200" b="1" dirty="0" smtClean="0"/>
              <a:t>Executive Summary </a:t>
            </a: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600" b="1" dirty="0">
                <a:latin typeface="+mn-lt"/>
                <a:ea typeface="+mn-ea"/>
                <a:cs typeface="+mn-cs"/>
              </a:rPr>
              <a:t>Professor </a:t>
            </a:r>
            <a:r>
              <a:rPr lang="en-US" sz="3600" b="1" dirty="0">
                <a:latin typeface="+mn-lt"/>
                <a:ea typeface="+mn-ea"/>
                <a:cs typeface="+mn-cs"/>
              </a:rPr>
              <a:t>: Dr</a:t>
            </a:r>
            <a:r>
              <a:rPr lang="en-US" sz="3600" b="1" dirty="0">
                <a:latin typeface="+mn-lt"/>
                <a:ea typeface="+mn-ea"/>
                <a:cs typeface="+mn-cs"/>
              </a:rPr>
              <a:t>. </a:t>
            </a:r>
            <a:r>
              <a:rPr lang="en-US" sz="3600" b="1" dirty="0">
                <a:latin typeface="+mn-lt"/>
                <a:ea typeface="+mn-ea"/>
                <a:cs typeface="+mn-cs"/>
              </a:rPr>
              <a:t>Catherine </a:t>
            </a:r>
            <a:r>
              <a:rPr lang="en-US" sz="3600" b="1" dirty="0">
                <a:latin typeface="+mn-lt"/>
                <a:ea typeface="+mn-ea"/>
                <a:cs typeface="+mn-cs"/>
              </a:rPr>
              <a:t>Williams</a:t>
            </a:r>
            <a:r>
              <a:rPr lang="en-US" sz="3200" b="1" dirty="0"/>
              <a:t/>
            </a:r>
            <a:br>
              <a:rPr lang="en-US" sz="3200" b="1" dirty="0"/>
            </a:br>
            <a:endParaRPr sz="3200" b="1" dirty="0"/>
          </a:p>
        </p:txBody>
      </p:sp>
    </p:spTree>
    <p:extLst>
      <p:ext uri="{BB962C8B-B14F-4D97-AF65-F5344CB8AC3E}">
        <p14:creationId xmlns:p14="http://schemas.microsoft.com/office/powerpoint/2010/main" val="3855700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Highlights of Executive Summary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614" y="1737360"/>
            <a:ext cx="8596668" cy="4622800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buFont typeface="Wingdings" pitchFamily="2" charset="2"/>
              <a:buChar char="Ø"/>
            </a:pPr>
            <a:r>
              <a:rPr lang="en-US" cap="none" dirty="0" smtClean="0"/>
              <a:t>The main purpose of this summary analysis was to provide important facts </a:t>
            </a:r>
            <a:r>
              <a:rPr lang="en-US" dirty="0" smtClean="0"/>
              <a:t>about </a:t>
            </a:r>
            <a:r>
              <a:rPr lang="en-US" cap="none" dirty="0" smtClean="0"/>
              <a:t>Airline travels are safe.</a:t>
            </a:r>
          </a:p>
          <a:p>
            <a:pPr>
              <a:lnSpc>
                <a:spcPct val="110000"/>
              </a:lnSpc>
              <a:buFont typeface="Wingdings" pitchFamily="2" charset="2"/>
              <a:buChar char="Ø"/>
            </a:pPr>
            <a:r>
              <a:rPr lang="en-US" dirty="0"/>
              <a:t>Especially due to COVID lot of travel industries airline booking and subsequent cancellations are causing airline partners owners the constant headache of losing </a:t>
            </a:r>
            <a:r>
              <a:rPr lang="en-US" dirty="0" smtClean="0"/>
              <a:t>business.</a:t>
            </a:r>
            <a:endParaRPr lang="en-US" dirty="0"/>
          </a:p>
          <a:p>
            <a:pPr>
              <a:lnSpc>
                <a:spcPct val="110000"/>
              </a:lnSpc>
              <a:buFont typeface="Wingdings" pitchFamily="2" charset="2"/>
              <a:buChar char="Ø"/>
            </a:pPr>
            <a:r>
              <a:rPr lang="en-US" dirty="0" smtClean="0"/>
              <a:t>Discuss abou</a:t>
            </a:r>
            <a:r>
              <a:rPr lang="en-US" dirty="0" smtClean="0"/>
              <a:t>t the </a:t>
            </a:r>
            <a:r>
              <a:rPr lang="en-US" cap="none" dirty="0" smtClean="0"/>
              <a:t>impact of negative publicity by media on sales based on the sentiments.</a:t>
            </a:r>
          </a:p>
          <a:p>
            <a:pPr>
              <a:lnSpc>
                <a:spcPct val="110000"/>
              </a:lnSpc>
              <a:buFont typeface="Wingdings" pitchFamily="2" charset="2"/>
              <a:buChar char="Ø"/>
            </a:pPr>
            <a:r>
              <a:rPr lang="en-US" cap="none" dirty="0" smtClean="0"/>
              <a:t>Comparing th</a:t>
            </a:r>
            <a:r>
              <a:rPr lang="en-US" dirty="0" smtClean="0"/>
              <a:t>e analytical results of </a:t>
            </a:r>
            <a:r>
              <a:rPr lang="en-US" cap="none" dirty="0" smtClean="0"/>
              <a:t>airline incidents and fatalities historical data is compared with latest data of worldwide airlines.</a:t>
            </a:r>
          </a:p>
          <a:p>
            <a:pPr>
              <a:lnSpc>
                <a:spcPct val="110000"/>
              </a:lnSpc>
              <a:buFont typeface="Wingdings" pitchFamily="2" charset="2"/>
              <a:buChar char="Ø"/>
            </a:pPr>
            <a:r>
              <a:rPr lang="en-US" cap="none" dirty="0" smtClean="0"/>
              <a:t>Airlines economical data is considered to see if there is any impact of overall profit and public demand.</a:t>
            </a:r>
          </a:p>
          <a:p>
            <a:pPr lvl="0">
              <a:lnSpc>
                <a:spcPct val="110000"/>
              </a:lnSpc>
              <a:buFont typeface="Wingdings" pitchFamily="2" charset="2"/>
              <a:buChar char="Ø"/>
            </a:pPr>
            <a:r>
              <a:rPr lang="en-US" dirty="0" smtClean="0"/>
              <a:t>Discuss about the ethical concerns of </a:t>
            </a:r>
            <a:r>
              <a:rPr lang="en-US" dirty="0"/>
              <a:t>Assessing only relevant information required for this </a:t>
            </a:r>
            <a:r>
              <a:rPr lang="en-US" dirty="0" smtClean="0"/>
              <a:t>analysis</a:t>
            </a:r>
            <a:r>
              <a:rPr lang="en-IN" dirty="0" smtClean="0"/>
              <a:t>. </a:t>
            </a:r>
            <a:endParaRPr lang="en-US" cap="none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7533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653" y="291149"/>
            <a:ext cx="8596668" cy="1320800"/>
          </a:xfrm>
        </p:spPr>
        <p:txBody>
          <a:bodyPr/>
          <a:lstStyle/>
          <a:p>
            <a:r>
              <a:rPr lang="en-IN" dirty="0" smtClean="0"/>
              <a:t>How safe to travel in Airline ? 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4" y="1611949"/>
            <a:ext cx="9127066" cy="3880773"/>
          </a:xfrm>
        </p:spPr>
        <p:txBody>
          <a:bodyPr/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The Airlines accidents are </a:t>
            </a:r>
            <a:r>
              <a:rPr lang="en-US" b="1" dirty="0"/>
              <a:t>ONLY </a:t>
            </a:r>
            <a:r>
              <a:rPr lang="en-US" b="1" dirty="0" smtClean="0"/>
              <a:t>0.07% </a:t>
            </a:r>
            <a:r>
              <a:rPr lang="en-US" dirty="0"/>
              <a:t>of motor </a:t>
            </a:r>
            <a:r>
              <a:rPr lang="en-US" dirty="0" smtClean="0"/>
              <a:t>vehicles</a:t>
            </a: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Fatality Rate of Airlines for Year </a:t>
            </a:r>
            <a:r>
              <a:rPr lang="en-US" dirty="0" smtClean="0"/>
              <a:t>2022  </a:t>
            </a:r>
            <a:r>
              <a:rPr lang="en-US" dirty="0"/>
              <a:t>is much </a:t>
            </a:r>
            <a:r>
              <a:rPr lang="en-US" dirty="0" smtClean="0"/>
              <a:t>lesser </a:t>
            </a:r>
            <a:r>
              <a:rPr lang="en-US" dirty="0"/>
              <a:t>than Roadways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Based on these </a:t>
            </a:r>
            <a:r>
              <a:rPr lang="en-US" dirty="0" smtClean="0"/>
              <a:t>number of accidents Air </a:t>
            </a:r>
            <a:r>
              <a:rPr lang="en-US" dirty="0"/>
              <a:t>travel is </a:t>
            </a:r>
            <a:r>
              <a:rPr lang="en-US" dirty="0" smtClean="0"/>
              <a:t>one of the </a:t>
            </a:r>
            <a:r>
              <a:rPr lang="en-US" dirty="0"/>
              <a:t>safest form of transport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0" y="3007360"/>
            <a:ext cx="7132320" cy="334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143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894" y="213360"/>
            <a:ext cx="9665546" cy="1320800"/>
          </a:xfrm>
        </p:spPr>
        <p:txBody>
          <a:bodyPr/>
          <a:lstStyle/>
          <a:p>
            <a:r>
              <a:rPr lang="en-IN" dirty="0" smtClean="0"/>
              <a:t>Fatal incidents comparison vs recent years?  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9DADAB2-05BA-E0FC-4BD0-4C094AD65D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480" y="2577148"/>
            <a:ext cx="7894320" cy="42808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86080" y="1534160"/>
            <a:ext cx="90119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Considerably very less in 20</a:t>
            </a:r>
            <a:r>
              <a:rPr lang="en-US" baseline="30000" dirty="0" smtClean="0"/>
              <a:t>th</a:t>
            </a:r>
            <a:r>
              <a:rPr lang="en-US" dirty="0" smtClean="0"/>
              <a:t> century (2000-2014) compared to prior years of 19</a:t>
            </a:r>
            <a:r>
              <a:rPr lang="en-US" baseline="30000" dirty="0" smtClean="0"/>
              <a:t>th</a:t>
            </a:r>
            <a:r>
              <a:rPr lang="en-US" dirty="0" smtClean="0"/>
              <a:t> century(1985-1999)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782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600" y="335280"/>
            <a:ext cx="8596668" cy="1320800"/>
          </a:xfrm>
        </p:spPr>
        <p:txBody>
          <a:bodyPr/>
          <a:lstStyle/>
          <a:p>
            <a:r>
              <a:rPr lang="en-US" b="1" dirty="0" smtClean="0"/>
              <a:t>Summary of air </a:t>
            </a:r>
            <a:r>
              <a:rPr lang="en-US" b="1" dirty="0"/>
              <a:t>traffic </a:t>
            </a:r>
            <a:r>
              <a:rPr lang="en-US" b="1" dirty="0" smtClean="0"/>
              <a:t>fatalities  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1FD7CC1-CEDE-2252-D72E-BAE15AA5BF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268" y="2292668"/>
            <a:ext cx="8231531" cy="45653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2400" y="1328043"/>
            <a:ext cx="94894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F</a:t>
            </a:r>
            <a:r>
              <a:rPr lang="en-US" dirty="0" smtClean="0"/>
              <a:t>atalities caused by air traffic accidents are gone down and its very less in the 20</a:t>
            </a:r>
            <a:r>
              <a:rPr lang="en-US" baseline="30000" dirty="0" smtClean="0"/>
              <a:t>th</a:t>
            </a:r>
            <a:r>
              <a:rPr lang="en-US" dirty="0" smtClean="0"/>
              <a:t> century (2000-2014) compared to prior years of 19</a:t>
            </a:r>
            <a:r>
              <a:rPr lang="en-US" baseline="30000" dirty="0" smtClean="0"/>
              <a:t>th</a:t>
            </a:r>
            <a:r>
              <a:rPr lang="en-US" dirty="0" smtClean="0"/>
              <a:t> century(1985-1999)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950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23520"/>
            <a:ext cx="8596668" cy="1097280"/>
          </a:xfrm>
        </p:spPr>
        <p:txBody>
          <a:bodyPr/>
          <a:lstStyle/>
          <a:p>
            <a:r>
              <a:rPr lang="en-US" b="1" dirty="0" smtClean="0"/>
              <a:t>Average fatalities rates trend 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79120" y="997634"/>
            <a:ext cx="86948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The trend </a:t>
            </a:r>
            <a:r>
              <a:rPr lang="en-US" dirty="0" smtClean="0"/>
              <a:t>is down towards the recent years of </a:t>
            </a:r>
            <a:r>
              <a:rPr lang="en-US" dirty="0" smtClean="0"/>
              <a:t>Airlines fatal accidents which is an indication of higher in safety sentiments.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96CC1D-83C4-D446-C656-A9D33F4DB0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767840"/>
            <a:ext cx="7806265" cy="485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757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Moving average trend for 5 years. 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8D2F1C0-9151-7E03-F72E-AE339BB080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495" y="2688908"/>
            <a:ext cx="8103825" cy="38814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1840" y="1749682"/>
            <a:ext cx="81483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The Airlines fatal accidents and 5-year moving average are drastically down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677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19751"/>
            <a:ext cx="9553786" cy="1320800"/>
          </a:xfrm>
        </p:spPr>
        <p:txBody>
          <a:bodyPr/>
          <a:lstStyle/>
          <a:p>
            <a:pPr algn="ctr"/>
            <a:r>
              <a:rPr lang="en-IN" dirty="0" smtClean="0"/>
              <a:t>Impacts caused by any negative media news?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413" y="1601789"/>
            <a:ext cx="8596668" cy="4514531"/>
          </a:xfrm>
        </p:spPr>
        <p:txBody>
          <a:bodyPr/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There is no negative media news of negative sentiments impacting the airline industry for sure.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Airlines </a:t>
            </a:r>
            <a:r>
              <a:rPr lang="en-US" dirty="0"/>
              <a:t>available seat multiplied by air miles is </a:t>
            </a:r>
            <a:r>
              <a:rPr lang="en-US" dirty="0" smtClean="0"/>
              <a:t>increasing, and increased in domestic travel volume.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Air travelers are eagerly waiting for the COVID endemic to travel back as before.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New regulations in place for safe travel during COVID and increased hospitality services with in the aircraft. </a:t>
            </a: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The Airlines overall profit is growing in recent </a:t>
            </a:r>
            <a:r>
              <a:rPr lang="en-US" dirty="0" smtClean="0"/>
              <a:t>years</a:t>
            </a: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Demand for Air travel is increasing as airlines average passenger miles is </a:t>
            </a:r>
            <a:r>
              <a:rPr lang="en-US" dirty="0" smtClean="0"/>
              <a:t>increasing</a:t>
            </a: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Based on these airlines year over year net profit, its capacity and public demand to air travel increasing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4671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854" y="33671"/>
            <a:ext cx="9553786" cy="1320800"/>
          </a:xfrm>
        </p:spPr>
        <p:txBody>
          <a:bodyPr/>
          <a:lstStyle/>
          <a:p>
            <a:pPr algn="ctr"/>
            <a:r>
              <a:rPr lang="en-IN" dirty="0" smtClean="0"/>
              <a:t>Impacts caused by any negative media news? Bar Charts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D7F4DB-775D-D4A1-4663-98DBE1C83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4" y="1354471"/>
            <a:ext cx="9137226" cy="538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348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Recommendations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214" y="1422401"/>
            <a:ext cx="9320106" cy="52527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Based on this analysis, we were able to clarify </a:t>
            </a:r>
            <a:r>
              <a:rPr lang="en-US" dirty="0" smtClean="0"/>
              <a:t>few </a:t>
            </a:r>
            <a:r>
              <a:rPr lang="en-US" dirty="0"/>
              <a:t>things </a:t>
            </a:r>
            <a:r>
              <a:rPr lang="en-US" dirty="0" smtClean="0"/>
              <a:t>and could recommend to make more consumers to understand why air travel is safest:</a:t>
            </a:r>
          </a:p>
          <a:p>
            <a:pPr marL="0" indent="0">
              <a:buNone/>
            </a:pPr>
            <a:endParaRPr lang="en-US" dirty="0"/>
          </a:p>
          <a:p>
            <a:pPr lvl="0">
              <a:buFont typeface="Wingdings" pitchFamily="2" charset="2"/>
              <a:buChar char="Ø"/>
            </a:pPr>
            <a:r>
              <a:rPr lang="en-US" dirty="0" smtClean="0"/>
              <a:t>Airline </a:t>
            </a:r>
            <a:r>
              <a:rPr lang="en-US" dirty="0"/>
              <a:t>travel is still safest way of </a:t>
            </a:r>
            <a:r>
              <a:rPr lang="en-US" dirty="0" smtClean="0"/>
              <a:t>travel should be carried to all country .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/>
              <a:t>You are nineteen times safer in a plane than in a </a:t>
            </a:r>
            <a:r>
              <a:rPr lang="en-US" dirty="0" smtClean="0"/>
              <a:t>car, these data sets needs to be carried to other countries.  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 smtClean="0"/>
              <a:t>Airlines </a:t>
            </a:r>
            <a:r>
              <a:rPr lang="en-US" dirty="0"/>
              <a:t>and airports </a:t>
            </a:r>
            <a:r>
              <a:rPr lang="en-US" dirty="0" smtClean="0"/>
              <a:t>should offer </a:t>
            </a:r>
            <a:r>
              <a:rPr lang="en-US" dirty="0"/>
              <a:t>many forms of travel assistance that make air travel for seniors much easier to manage. </a:t>
            </a:r>
            <a:endParaRPr lang="en-US" dirty="0"/>
          </a:p>
          <a:p>
            <a:pPr lvl="0">
              <a:buFont typeface="Wingdings" pitchFamily="2" charset="2"/>
              <a:buChar char="Ø"/>
            </a:pPr>
            <a:r>
              <a:rPr lang="en-US" dirty="0"/>
              <a:t>There is no impact on net profit and public demand of air travel is increasing and will improve sales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Management can attract more passengers by providing some offers and </a:t>
            </a:r>
            <a:r>
              <a:rPr lang="en-US" dirty="0" smtClean="0"/>
              <a:t>compliments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/>
              <a:t>Today's airplane </a:t>
            </a:r>
            <a:r>
              <a:rPr lang="en-US" dirty="0" smtClean="0"/>
              <a:t>safety feature should be explained to passengers. </a:t>
            </a:r>
            <a:endParaRPr lang="en-US" dirty="0"/>
          </a:p>
          <a:p>
            <a:pPr lvl="0">
              <a:buFont typeface="Wingdings" pitchFamily="2" charset="2"/>
              <a:buChar char="Ø"/>
            </a:pPr>
            <a:r>
              <a:rPr lang="en-US" dirty="0"/>
              <a:t>S</a:t>
            </a:r>
            <a:r>
              <a:rPr lang="en-US" dirty="0" smtClean="0"/>
              <a:t>uch as seat </a:t>
            </a:r>
            <a:r>
              <a:rPr lang="en-US" dirty="0"/>
              <a:t>can successfully withstand 16 times gravity's force. In addition to that, the cushions and fabrics are self-extinguishing and don't emit any toxic smoke.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4762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Legal and Ethical Considerations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57680"/>
            <a:ext cx="8596668" cy="4805680"/>
          </a:xfrm>
        </p:spPr>
        <p:txBody>
          <a:bodyPr/>
          <a:lstStyle/>
          <a:p>
            <a:pPr lvl="0"/>
            <a:r>
              <a:rPr lang="en-US" dirty="0"/>
              <a:t>Data obtained here from public </a:t>
            </a:r>
            <a:r>
              <a:rPr lang="en-US" dirty="0" smtClean="0"/>
              <a:t>domains and was no PII information on it.</a:t>
            </a:r>
          </a:p>
          <a:p>
            <a:pPr lvl="0"/>
            <a:r>
              <a:rPr lang="en-US" dirty="0" smtClean="0"/>
              <a:t>We are not using any passenger personal information such as address or geo locations to navigate these results. </a:t>
            </a:r>
            <a:endParaRPr lang="en-IN" dirty="0"/>
          </a:p>
          <a:p>
            <a:r>
              <a:rPr lang="en-US" dirty="0"/>
              <a:t>The data considered for the analysis are </a:t>
            </a:r>
            <a:r>
              <a:rPr lang="en-US" dirty="0" smtClean="0"/>
              <a:t>provided  </a:t>
            </a:r>
            <a:r>
              <a:rPr lang="en-US" dirty="0"/>
              <a:t>by government for public </a:t>
            </a:r>
            <a:r>
              <a:rPr lang="en-US" dirty="0" smtClean="0"/>
              <a:t>consumer benefits</a:t>
            </a:r>
          </a:p>
          <a:p>
            <a:pPr lvl="0"/>
            <a:r>
              <a:rPr lang="en-US" dirty="0" smtClean="0"/>
              <a:t>There </a:t>
            </a:r>
            <a:r>
              <a:rPr lang="en-US" dirty="0"/>
              <a:t>are no private data has been disclosed here and no airline company highlighted </a:t>
            </a:r>
            <a:endParaRPr lang="en-IN" dirty="0"/>
          </a:p>
          <a:p>
            <a:pPr lvl="0"/>
            <a:r>
              <a:rPr lang="en-US" dirty="0"/>
              <a:t>Assessing only relevant information required for this analysis</a:t>
            </a:r>
            <a:endParaRPr lang="en-IN" dirty="0"/>
          </a:p>
          <a:p>
            <a:pPr lvl="0"/>
            <a:r>
              <a:rPr lang="en-US" dirty="0"/>
              <a:t>Publish and Validating the data with respect to the graph</a:t>
            </a:r>
            <a:endParaRPr lang="en-IN" dirty="0"/>
          </a:p>
          <a:p>
            <a:pPr lvl="0"/>
            <a:r>
              <a:rPr lang="en-US" dirty="0"/>
              <a:t>Communicating the results </a:t>
            </a:r>
            <a:r>
              <a:rPr lang="en-US" dirty="0" smtClean="0"/>
              <a:t>appropriately</a:t>
            </a:r>
          </a:p>
          <a:p>
            <a:r>
              <a:rPr lang="en-US" dirty="0"/>
              <a:t>There </a:t>
            </a:r>
            <a:r>
              <a:rPr lang="en-US" dirty="0" smtClean="0"/>
              <a:t>are no restrictions </a:t>
            </a:r>
            <a:r>
              <a:rPr lang="en-US" dirty="0"/>
              <a:t>to use this data for Analysis and academic purpose</a:t>
            </a:r>
          </a:p>
          <a:p>
            <a:pPr lvl="0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8623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Conclusions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67841"/>
            <a:ext cx="8596668" cy="42735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Based on this analysis, we were able to clarify </a:t>
            </a:r>
            <a:r>
              <a:rPr lang="en-US" dirty="0" smtClean="0"/>
              <a:t>and conclude few things:</a:t>
            </a: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 lvl="0">
              <a:buFont typeface="Wingdings" pitchFamily="2" charset="2"/>
              <a:buChar char="Ø"/>
            </a:pPr>
            <a:r>
              <a:rPr lang="en-US" dirty="0"/>
              <a:t>Airline travel is still safest way of travel</a:t>
            </a:r>
            <a:r>
              <a:rPr lang="en-US" dirty="0" smtClean="0"/>
              <a:t>.</a:t>
            </a:r>
            <a:endParaRPr lang="en-US" dirty="0"/>
          </a:p>
          <a:p>
            <a:pPr lvl="0">
              <a:buFont typeface="Wingdings" pitchFamily="2" charset="2"/>
              <a:buChar char="Ø"/>
            </a:pPr>
            <a:r>
              <a:rPr lang="en-US" dirty="0"/>
              <a:t>There is no impact on net profit and public demand of air travel is increasing and will improve sales</a:t>
            </a:r>
            <a:r>
              <a:rPr lang="en-US" dirty="0" smtClean="0"/>
              <a:t>.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 smtClean="0"/>
              <a:t>For all  passengers the government regulation on  </a:t>
            </a:r>
            <a:r>
              <a:rPr lang="en-US" dirty="0"/>
              <a:t>seats on an airplane have met strict standards for head-impact safety and durability</a:t>
            </a:r>
            <a:r>
              <a:rPr lang="en-US" dirty="0" smtClean="0"/>
              <a:t>.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/>
              <a:t>You are nineteen times safer in a plane than in a </a:t>
            </a:r>
            <a:r>
              <a:rPr lang="en-US" dirty="0" smtClean="0"/>
              <a:t>car.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/>
              <a:t>Air travel resulted in 0.07 deaths for every 1 billion miles travelled compared to 212.57 for motorcycles and 7.28 for cars.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3708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References 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68960" y="2642933"/>
            <a:ext cx="8705042" cy="297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dirty="0" smtClean="0"/>
              <a:t>Government and other website used for data collections </a:t>
            </a:r>
            <a:r>
              <a:rPr lang="en-US" dirty="0"/>
              <a:t>and </a:t>
            </a:r>
            <a:r>
              <a:rPr lang="en-US" dirty="0" smtClean="0"/>
              <a:t>analyze the fatalities</a:t>
            </a:r>
            <a:endParaRPr lang="en-US" u="sng" dirty="0" smtClean="0">
              <a:solidFill>
                <a:srgbClr val="0000FF"/>
              </a:solidFill>
              <a:latin typeface="Arial" panose="020B0604020202020204" pitchFamily="34" charset="0"/>
              <a:ea typeface="Calibri" panose="020F0502020204030204" pitchFamily="34" charset="0"/>
              <a:cs typeface="Mangal"/>
              <a:hlinkClick r:id="rId2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"/>
              <a:tabLst>
                <a:tab pos="457200" algn="l"/>
              </a:tabLst>
            </a:pPr>
            <a:endParaRPr lang="en-US" dirty="0" smtClean="0">
              <a:hlinkClick r:id="rId2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"/>
              <a:tabLst>
                <a:tab pos="457200" algn="l"/>
              </a:tabLst>
            </a:pP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://cdan.dot.gov/SASStoredProcess/guest</a:t>
            </a:r>
            <a:endParaRPr lang="en-IN" dirty="0"/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"/>
              <a:tabLst>
                <a:tab pos="457200" algn="l"/>
              </a:tabLst>
            </a:pPr>
            <a:r>
              <a:rPr lang="en-US" dirty="0">
                <a:hlinkClick r:id="rId3"/>
              </a:rPr>
              <a:t>https://www.airlines.org/dataset/world-airlines-traffic-and-capacity-2/</a:t>
            </a:r>
            <a:endParaRPr lang="en-IN" dirty="0"/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"/>
              <a:tabLst>
                <a:tab pos="457200" algn="l"/>
              </a:tabLst>
            </a:pPr>
            <a:r>
              <a:rPr lang="en-US" dirty="0">
                <a:hlinkClick r:id="rId4"/>
              </a:rPr>
              <a:t>https://www.statista.com/statistics/263443/worldwide-air-traffic-fatalities/#professional</a:t>
            </a:r>
            <a:endParaRPr lang="en-IN" dirty="0"/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"/>
              <a:tabLst>
                <a:tab pos="457200" algn="l"/>
              </a:tabLst>
            </a:pPr>
            <a:r>
              <a:rPr lang="en-US" dirty="0">
                <a:hlinkClick r:id="rId5"/>
              </a:rPr>
              <a:t>https://docs.google.com/spreadsheets/d/1SDp7p1y6m7N5xD5_fpOkYOrJvd68V7iy6etXy2cetb8/edit#gid=1448957446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7357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347</TotalTime>
  <Words>722</Words>
  <Application>Microsoft Office PowerPoint</Application>
  <PresentationFormat>Widescreen</PresentationFormat>
  <Paragraphs>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Mangal</vt:lpstr>
      <vt:lpstr>Trebuchet MS</vt:lpstr>
      <vt:lpstr>Wingdings</vt:lpstr>
      <vt:lpstr>Wingdings 3</vt:lpstr>
      <vt:lpstr>Facet</vt:lpstr>
      <vt:lpstr> Data Presentation and Visualization  Week 3 &amp; 4  2.3 Project Task Executive Summary  Professor : Dr. Catherine Williams </vt:lpstr>
      <vt:lpstr>Highlights of Executive Summary  </vt:lpstr>
      <vt:lpstr>How safe to travel in Airline ?  </vt:lpstr>
      <vt:lpstr>Fatal incidents comparison vs recent years?  </vt:lpstr>
      <vt:lpstr>Summary of air traffic fatalities  </vt:lpstr>
      <vt:lpstr>Average fatalities rates trend </vt:lpstr>
      <vt:lpstr>Moving average trend for 5 years. </vt:lpstr>
      <vt:lpstr>Impacts caused by any negative media news? </vt:lpstr>
      <vt:lpstr>Impacts caused by any negative media news? Bar Charts</vt:lpstr>
      <vt:lpstr>Recommendations </vt:lpstr>
      <vt:lpstr>Legal and Ethical Considerations</vt:lpstr>
      <vt:lpstr>Conclusions 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&amp; 4 Dashboard Professor : Dr. Catherine Williams </dc:title>
  <dc:creator>LENOVO</dc:creator>
  <cp:lastModifiedBy>LENOVO</cp:lastModifiedBy>
  <cp:revision>17</cp:revision>
  <dcterms:created xsi:type="dcterms:W3CDTF">2022-07-03T16:03:21Z</dcterms:created>
  <dcterms:modified xsi:type="dcterms:W3CDTF">2022-07-03T21:50:57Z</dcterms:modified>
</cp:coreProperties>
</file>